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a95dc50734d79" /><Relationship Type="http://schemas.openxmlformats.org/officeDocument/2006/relationships/extended-properties" Target="/docProps/app.xml" Id="R184f52990b654642" /><Relationship Type="http://schemas.openxmlformats.org/officeDocument/2006/relationships/officeDocument" Target="/ppt/presentation.xml" Id="R4ce0c8e0a790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b03a941ee446f"/>
  </p:sldMasterIdLst>
  <p:notesMasterIdLst>
    <p:notesMasterId xmlns:r="http://schemas.openxmlformats.org/officeDocument/2006/relationships" r:id="Rced190d716614911"/>
  </p:notesMasterIdLst>
  <p:sldIdLst>
    <p:sldId xmlns:r="http://schemas.openxmlformats.org/officeDocument/2006/relationships" id="256" r:id="R2291203527e14c23"/>
    <p:sldId xmlns:r="http://schemas.openxmlformats.org/officeDocument/2006/relationships" id="257" r:id="R17fc11b374ee49c6"/>
    <p:sldId xmlns:r="http://schemas.openxmlformats.org/officeDocument/2006/relationships" id="258" r:id="R5fd2bf1c1f6e47f4"/>
    <p:sldId xmlns:r="http://schemas.openxmlformats.org/officeDocument/2006/relationships" id="259" r:id="R55642d2003134c32"/>
    <p:sldId xmlns:r="http://schemas.openxmlformats.org/officeDocument/2006/relationships" id="260" r:id="R908826a41c324e9b"/>
    <p:sldId xmlns:r="http://schemas.openxmlformats.org/officeDocument/2006/relationships" id="261" r:id="R98c44de3fc0741a0"/>
    <p:sldId xmlns:r="http://schemas.openxmlformats.org/officeDocument/2006/relationships" id="262" r:id="R00701c00bb2f4fc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b03a941ee446f" /><Relationship Type="http://schemas.openxmlformats.org/officeDocument/2006/relationships/theme" Target="/ppt/theme/theme1.xml" Id="Rf2a6a33d811e474e" /><Relationship Type="http://schemas.openxmlformats.org/officeDocument/2006/relationships/notesMaster" Target="/ppt/notesMasters/notesMaster1.xml" Id="Rced190d716614911" /><Relationship Type="http://schemas.openxmlformats.org/officeDocument/2006/relationships/presProps" Target="/ppt/presProps.xml" Id="Rd031e3571b6343dd" /><Relationship Type="http://schemas.openxmlformats.org/officeDocument/2006/relationships/viewProps" Target="/ppt/viewProps.xml" Id="Rb2c51854c7c440cc" /><Relationship Type="http://schemas.openxmlformats.org/officeDocument/2006/relationships/tableStyles" Target="/ppt/tableStyles.xml" Id="R3b20c43ef67e43ec" /><Relationship Type="http://schemas.openxmlformats.org/officeDocument/2006/relationships/slide" Target="/ppt/slides/slide1.xml" Id="R2291203527e14c23" /><Relationship Type="http://schemas.openxmlformats.org/officeDocument/2006/relationships/slide" Target="/ppt/slides/slide2.xml" Id="R17fc11b374ee49c6" /><Relationship Type="http://schemas.openxmlformats.org/officeDocument/2006/relationships/slide" Target="/ppt/slides/slide3.xml" Id="R5fd2bf1c1f6e47f4" /><Relationship Type="http://schemas.openxmlformats.org/officeDocument/2006/relationships/slide" Target="/ppt/slides/slide4.xml" Id="R55642d2003134c32" /><Relationship Type="http://schemas.openxmlformats.org/officeDocument/2006/relationships/slide" Target="/ppt/slides/slide5.xml" Id="R908826a41c324e9b" /><Relationship Type="http://schemas.openxmlformats.org/officeDocument/2006/relationships/slide" Target="/ppt/slides/slide6.xml" Id="R98c44de3fc0741a0" /><Relationship Type="http://schemas.openxmlformats.org/officeDocument/2006/relationships/slide" Target="/ppt/slides/slide7.xml" Id="R00701c00bb2f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4220f253d1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4d7a72d1b4274" /><Relationship Type="http://schemas.openxmlformats.org/officeDocument/2006/relationships/notesMaster" Target="/ppt/notesMasters/notesMaster1.xml" Id="Refab84971b3b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942e48d98f4f42" /><Relationship Type="http://schemas.openxmlformats.org/officeDocument/2006/relationships/notesMaster" Target="/ppt/notesMasters/notesMaster1.xml" Id="Rb483b6c33f33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0dc5963a5c4ea6" /><Relationship Type="http://schemas.openxmlformats.org/officeDocument/2006/relationships/notesMaster" Target="/ppt/notesMasters/notesMaster1.xml" Id="Rb4a002aa988541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efd6e01c84f2c" /><Relationship Type="http://schemas.openxmlformats.org/officeDocument/2006/relationships/notesMaster" Target="/ppt/notesMasters/notesMaster1.xml" Id="R7db4870ea623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038ed6c3334e7d" /><Relationship Type="http://schemas.openxmlformats.org/officeDocument/2006/relationships/notesMaster" Target="/ppt/notesMasters/notesMaster1.xml" Id="Rcd7f7d231e71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0fc04923b4ff5" /><Relationship Type="http://schemas.openxmlformats.org/officeDocument/2006/relationships/notesMaster" Target="/ppt/notesMasters/notesMaster1.xml" Id="Raae72ae022d5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30805258a040f8" /><Relationship Type="http://schemas.openxmlformats.org/officeDocument/2006/relationships/notesMaster" Target="/ppt/notesMasters/notesMaster1.xml" Id="R61a40f08e49c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0dabcfd2546c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4cda35945f4cb3" /><Relationship Type="http://schemas.openxmlformats.org/officeDocument/2006/relationships/slideLayout" Target="/ppt/slideLayouts/slideLayout2.xml" Id="Re37c289ba27e4b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c289ba27e4b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b479cc72df4003" /><Relationship Type="http://schemas.openxmlformats.org/officeDocument/2006/relationships/notesSlide" Target="/ppt/notesSlides/notesSlide1.xml" Id="R720e32c49f66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7eefbbe99480a" /><Relationship Type="http://schemas.openxmlformats.org/officeDocument/2006/relationships/notesSlide" Target="/ppt/notesSlides/notesSlide2.xml" Id="Raceca06d9f26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f20ec453d42b5" /><Relationship Type="http://schemas.openxmlformats.org/officeDocument/2006/relationships/notesSlide" Target="/ppt/notesSlides/notesSlide3.xml" Id="Re0b3256fa3c14e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9b0ea19894c52" /><Relationship Type="http://schemas.openxmlformats.org/officeDocument/2006/relationships/notesSlide" Target="/ppt/notesSlides/notesSlide4.xml" Id="R296840e200bd48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90e4a4c2a4703" /><Relationship Type="http://schemas.openxmlformats.org/officeDocument/2006/relationships/notesSlide" Target="/ppt/notesSlides/notesSlide5.xml" Id="Rd635531705ea41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528287a2c49ab" /><Relationship Type="http://schemas.openxmlformats.org/officeDocument/2006/relationships/notesSlide" Target="/ppt/notesSlides/notesSlide6.xml" Id="Rf8898cb42bd6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d12e1213944bc" /><Relationship Type="http://schemas.openxmlformats.org/officeDocument/2006/relationships/notesSlide" Target="/ppt/notesSlides/notesSlide7.xml" Id="Rfd2de7560c3f40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83D2B697-25B5-4239-9DC4-237FA8E1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F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5BCFB6BC-D51C-44B7-B92B-859A120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D41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A539293-6996-4FF5-9627-55E625ED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71A51E-5ED6-4C7D-9306-5174C6D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687705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8FAF4"/>
                </a:solidFill>
              </a:defRPr>
            </a:pPr>
            <a:r>
              <a:rPr sz="7050" b="1">
                <a:solidFill>
                  <a:srgbClr val="F8FAF4"/>
                </a:solidFill>
              </a:rPr>
              <a:t>Dimensionnement renouvelable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58914AD8-4AE6-4419-8DF5-8B0549D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F2B705"/>
            </a:solidFill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2E528F5-F65D-4BE4-9AD4-4B036AC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9277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CFE0D4"/>
                </a:solidFill>
              </a:defRPr>
            </a:pPr>
            <a:r>
              <a:rPr sz="2325">
                <a:solidFill>
                  <a:srgbClr val="CFE0D4"/>
                </a:solidFill>
              </a:rPr>
              <a:t>Analyse d'une ferme hybride éolien + solaire à partir d'une année de données horaires</a:t>
            </a:r>
          </a:p>
        </p:txBody>
      </p:sp>
      <p:sp>
        <p:nvSpPr>
          <p:cNvPr id="7" name="m1">
            <a:extLst xmlns:a="http://schemas.openxmlformats.org/drawingml/2006/main">
              <a:ext uri="{FF2B5EF4-FFF2-40B4-BE49-F238E27FC236}">
                <a16:creationId xmlns:a16="http://schemas.microsoft.com/office/drawing/2014/main" id="{0562D333-20B1-4EC9-8D0F-3AE8861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247900"/>
            <a:ext cx="3714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8FAF4"/>
                </a:solidFill>
              </a:defRPr>
            </a:pPr>
            <a:r>
              <a:rPr sz="4800" b="1">
                <a:solidFill>
                  <a:srgbClr val="F8FAF4"/>
                </a:solidFill>
              </a:rPr>
              <a:t>8 760 h</a:t>
            </a:r>
          </a:p>
        </p:txBody>
      </p:sp>
      <p:sp>
        <p:nvSpPr>
          <p:cNvPr id="8" name="m1-label">
            <a:extLst xmlns:a="http://schemas.openxmlformats.org/drawingml/2006/main">
              <a:ext uri="{FF2B5EF4-FFF2-40B4-BE49-F238E27FC236}">
                <a16:creationId xmlns:a16="http://schemas.microsoft.com/office/drawing/2014/main" id="{6DE7A634-2B4D-4472-B803-459B70D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19450"/>
            <a:ext cx="3714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FE0D4"/>
                </a:solidFill>
              </a:defRPr>
            </a:pPr>
            <a:r>
              <a:rPr sz="1725">
                <a:solidFill>
                  <a:srgbClr val="CFE0D4"/>
                </a:solidFill>
              </a:rPr>
              <a:t>production et consommation mesurées ou simulées heure par heure</a:t>
            </a:r>
          </a:p>
        </p:txBody>
      </p:sp>
      <p:sp>
        <p:nvSpPr>
          <p:cNvPr id="9" name="m2">
            <a:extLst xmlns:a="http://schemas.openxmlformats.org/drawingml/2006/main">
              <a:ext uri="{FF2B5EF4-FFF2-40B4-BE49-F238E27FC236}">
                <a16:creationId xmlns:a16="http://schemas.microsoft.com/office/drawing/2014/main" id="{CED009A9-55EC-42D6-A639-35B0A9F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000500"/>
            <a:ext cx="3714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B705"/>
                </a:solidFill>
              </a:defRPr>
            </a:pPr>
            <a:r>
              <a:rPr sz="4800" b="1">
                <a:solidFill>
                  <a:srgbClr val="F2B705"/>
                </a:solidFill>
              </a:rPr>
              <a:t>75 %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87C3ECA0-60E0-449B-ADDA-5CBD6F5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972050"/>
            <a:ext cx="3714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FE0D4"/>
                </a:solidFill>
              </a:defRPr>
            </a:pPr>
            <a:r>
              <a:rPr sz="1725">
                <a:solidFill>
                  <a:srgbClr val="CFE0D4"/>
                </a:solidFill>
              </a:rPr>
              <a:t>couverture annuelle estimée dans le scénario de référence</a:t>
            </a:r>
          </a:p>
        </p:txBody>
      </p:sp>
      <p:sp>
        <p:nvSpPr>
          <p:cNvPr id="11" name="cover-date">
            <a:extLst xmlns:a="http://schemas.openxmlformats.org/drawingml/2006/main">
              <a:ext uri="{FF2B5EF4-FFF2-40B4-BE49-F238E27FC236}">
                <a16:creationId xmlns:a16="http://schemas.microsoft.com/office/drawing/2014/main" id="{61597290-59C5-47AD-94D3-3A0760F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0"/>
            <a:ext cx="1752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FE0D4"/>
                </a:solidFill>
              </a:defRPr>
            </a:pPr>
            <a:r>
              <a:rPr sz="1575">
                <a:solidFill>
                  <a:srgbClr val="CFE0D4"/>
                </a:solidFill>
              </a:rPr>
              <a:t>Projet SG8 - mai 2026</a:t>
            </a:r>
          </a:p>
        </p:txBody>
      </p:sp>
    </p:spTree>
    <p:extLst>
      <p:ext uri="{BB962C8B-B14F-4D97-AF65-F5344CB8AC3E}">
        <p14:creationId xmlns:p14="http://schemas.microsoft.com/office/powerpoint/2010/main" val="2366041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1AB22023-B779-42A4-B9AB-40A3BF41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33C32E95-3AF1-4203-BC37-F09CE2C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51BDE5D-5139-44F0-9630-773D17B4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E80DA-3C6D-4445-835B-E82DDE3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Le problème à résoudre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D7D27-C921-49E5-AAAC-5B590179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021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Évaluer si un mix solaire + éolien peut couvrir une consommation agricole tout au long de l'année.</a:t>
            </a:r>
          </a:p>
        </p:txBody>
      </p:sp>
      <p:sp>
        <p:nvSpPr>
          <p:cNvPr id="6" name="dot-Objectif">
            <a:extLst xmlns:a="http://schemas.openxmlformats.org/drawingml/2006/main">
              <a:ext uri="{FF2B5EF4-FFF2-40B4-BE49-F238E27FC236}">
                <a16:creationId xmlns:a16="http://schemas.microsoft.com/office/drawing/2014/main" id="{1A9E7B2E-D8C8-4623-AA5C-8F26790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</p:spPr>
      </p:sp>
      <p:sp>
        <p:nvSpPr>
          <p:cNvPr id="7" name="kicker-Objectif">
            <a:extLst xmlns:a="http://schemas.openxmlformats.org/drawingml/2006/main">
              <a:ext uri="{FF2B5EF4-FFF2-40B4-BE49-F238E27FC236}">
                <a16:creationId xmlns:a16="http://schemas.microsoft.com/office/drawing/2014/main" id="{7FAD4819-ABE2-4E68-B15C-6D4D225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3850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Objectif</a:t>
            </a:r>
          </a:p>
        </p:txBody>
      </p:sp>
      <p:sp>
        <p:nvSpPr>
          <p:cNvPr id="8" name="body-Objectif">
            <a:extLst xmlns:a="http://schemas.openxmlformats.org/drawingml/2006/main">
              <a:ext uri="{FF2B5EF4-FFF2-40B4-BE49-F238E27FC236}">
                <a16:creationId xmlns:a16="http://schemas.microsoft.com/office/drawing/2014/main" id="{6047B95F-B522-4B26-83D1-5821B73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10248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Comparer la production renouvelable horaire avec un profil de consommation et identifier les périodes les plus faibles.</a:t>
            </a:r>
          </a:p>
        </p:txBody>
      </p:sp>
      <p:sp>
        <p:nvSpPr>
          <p:cNvPr id="9" name="dot-Question de dimensionnement">
            <a:extLst xmlns:a="http://schemas.openxmlformats.org/drawingml/2006/main">
              <a:ext uri="{FF2B5EF4-FFF2-40B4-BE49-F238E27FC236}">
                <a16:creationId xmlns:a16="http://schemas.microsoft.com/office/drawing/2014/main" id="{0CD09539-C4BE-4235-83A6-6438288B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05"/>
          </a:solidFill>
        </p:spPr>
      </p:sp>
      <p:sp>
        <p:nvSpPr>
          <p:cNvPr id="10" name="kicker-Question de dimensionnement">
            <a:extLst xmlns:a="http://schemas.openxmlformats.org/drawingml/2006/main">
              <a:ext uri="{FF2B5EF4-FFF2-40B4-BE49-F238E27FC236}">
                <a16:creationId xmlns:a16="http://schemas.microsoft.com/office/drawing/2014/main" id="{FE0C4125-7AA8-4E89-8F64-0141A363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Question de dimensionnement</a:t>
            </a:r>
          </a:p>
        </p:txBody>
      </p:sp>
      <p:sp>
        <p:nvSpPr>
          <p:cNvPr id="11" name="body-Question de dimensionnement">
            <a:extLst xmlns:a="http://schemas.openxmlformats.org/drawingml/2006/main">
              <a:ext uri="{FF2B5EF4-FFF2-40B4-BE49-F238E27FC236}">
                <a16:creationId xmlns:a16="http://schemas.microsoft.com/office/drawing/2014/main" id="{C4D1D7BD-0F7A-4025-BE83-C3A1E31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Tester plusieurs tailles de parc photovoltaïque : 250, 290 et 350 panneaux.</a:t>
            </a:r>
          </a:p>
        </p:txBody>
      </p:sp>
      <p:sp>
        <p:nvSpPr>
          <p:cNvPr id="12" name="dot-Point critique">
            <a:extLst xmlns:a="http://schemas.openxmlformats.org/drawingml/2006/main">
              <a:ext uri="{FF2B5EF4-FFF2-40B4-BE49-F238E27FC236}">
                <a16:creationId xmlns:a16="http://schemas.microsoft.com/office/drawing/2014/main" id="{627B7C9F-D824-4D79-9F09-E74E96B6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31"/>
          </a:solidFill>
        </p:spPr>
      </p:sp>
      <p:sp>
        <p:nvSpPr>
          <p:cNvPr id="13" name="kicker-Point critique">
            <a:extLst xmlns:a="http://schemas.openxmlformats.org/drawingml/2006/main">
              <a:ext uri="{FF2B5EF4-FFF2-40B4-BE49-F238E27FC236}">
                <a16:creationId xmlns:a16="http://schemas.microsoft.com/office/drawing/2014/main" id="{435C9FD8-DF7F-4548-8606-666376D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7685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Point critique</a:t>
            </a:r>
          </a:p>
        </p:txBody>
      </p:sp>
      <p:sp>
        <p:nvSpPr>
          <p:cNvPr id="14" name="body-Point critique">
            <a:extLst xmlns:a="http://schemas.openxmlformats.org/drawingml/2006/main">
              <a:ext uri="{FF2B5EF4-FFF2-40B4-BE49-F238E27FC236}">
                <a16:creationId xmlns:a16="http://schemas.microsoft.com/office/drawing/2014/main" id="{F17B7930-B92C-4DEB-BD78-CF24D3AA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43550"/>
            <a:ext cx="10553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La moyenne annuelle ne suffit pas : une installation doit aussi tenir pendant les fenêtres de 15 jours les moins productives.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F4D7DC-472A-44CF-8909-D7B7A1F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D1B62B3-F19C-4DA3-9D84-2C069B6A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2783256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1A9BBB8B-C777-4C70-B7B1-DD06B991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845FD285-D7F5-49EF-BEBF-07E675A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9F8973E-2F61-44E7-B76F-5D823C1A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B3AD73-5BAD-43E1-AB35-F1B29B0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Les données du projet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A2C9D0-4868-4AD7-9A25-98FF9B70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5695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Une base horaire nettoyée et alignée sur l'année 2019.</a:t>
            </a:r>
          </a:p>
        </p:txBody>
      </p:sp>
      <p:sp>
        <p:nvSpPr>
          <p:cNvPr id="6" name="value-Pas de temps">
            <a:extLst xmlns:a="http://schemas.openxmlformats.org/drawingml/2006/main">
              <a:ext uri="{FF2B5EF4-FFF2-40B4-BE49-F238E27FC236}">
                <a16:creationId xmlns:a16="http://schemas.microsoft.com/office/drawing/2014/main" id="{AF2087D7-5692-44FE-84F7-C245968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4972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F8F5B"/>
                </a:solidFill>
              </a:defRPr>
            </a:pPr>
            <a:r>
              <a:rPr sz="4800" b="1">
                <a:solidFill>
                  <a:srgbClr val="2F8F5B"/>
                </a:solidFill>
              </a:rPr>
              <a:t>8 760</a:t>
            </a:r>
          </a:p>
        </p:txBody>
      </p:sp>
      <p:sp>
        <p:nvSpPr>
          <p:cNvPr id="7" name="label-Pas de temps">
            <a:extLst xmlns:a="http://schemas.openxmlformats.org/drawingml/2006/main">
              <a:ext uri="{FF2B5EF4-FFF2-40B4-BE49-F238E27FC236}">
                <a16:creationId xmlns:a16="http://schemas.microsoft.com/office/drawing/2014/main" id="{BADE542A-E529-44EC-B038-09AC956D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497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Pas de temps</a:t>
            </a:r>
          </a:p>
        </p:txBody>
      </p:sp>
      <p:sp>
        <p:nvSpPr>
          <p:cNvPr id="8" name="note-Pas de temps">
            <a:extLst xmlns:a="http://schemas.openxmlformats.org/drawingml/2006/main">
              <a:ext uri="{FF2B5EF4-FFF2-40B4-BE49-F238E27FC236}">
                <a16:creationId xmlns:a16="http://schemas.microsoft.com/office/drawing/2014/main" id="{507262E2-61CA-46B0-971D-EF89F49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152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lignes horaires dans le fichier nettoyé</a:t>
            </a:r>
          </a:p>
        </p:txBody>
      </p:sp>
      <p:sp>
        <p:nvSpPr>
          <p:cNvPr id="9" name="value-Consommation">
            <a:extLst xmlns:a="http://schemas.openxmlformats.org/drawingml/2006/main">
              <a:ext uri="{FF2B5EF4-FFF2-40B4-BE49-F238E27FC236}">
                <a16:creationId xmlns:a16="http://schemas.microsoft.com/office/drawing/2014/main" id="{9F900D99-AD4F-4723-8174-69E1AECB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972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C84C31"/>
                </a:solidFill>
              </a:defRPr>
            </a:pPr>
            <a:r>
              <a:rPr sz="4800" b="1">
                <a:solidFill>
                  <a:srgbClr val="C84C31"/>
                </a:solidFill>
              </a:rPr>
              <a:t>329,6 MWh</a:t>
            </a:r>
          </a:p>
        </p:txBody>
      </p:sp>
      <p:sp>
        <p:nvSpPr>
          <p:cNvPr id="10" name="label-Consommation">
            <a:extLst xmlns:a="http://schemas.openxmlformats.org/drawingml/2006/main">
              <a:ext uri="{FF2B5EF4-FFF2-40B4-BE49-F238E27FC236}">
                <a16:creationId xmlns:a16="http://schemas.microsoft.com/office/drawing/2014/main" id="{8A1E4CFE-A5E3-4B8B-AD1E-CA7C512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97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Consommation</a:t>
            </a:r>
          </a:p>
        </p:txBody>
      </p:sp>
      <p:sp>
        <p:nvSpPr>
          <p:cNvPr id="11" name="note-Consommation">
            <a:extLst xmlns:a="http://schemas.openxmlformats.org/drawingml/2006/main">
              <a:ext uri="{FF2B5EF4-FFF2-40B4-BE49-F238E27FC236}">
                <a16:creationId xmlns:a16="http://schemas.microsoft.com/office/drawing/2014/main" id="{D69B97D5-F535-4AFC-BC36-153104F9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2324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profil horaire compris entre 28 et 50 kW</a:t>
            </a:r>
          </a:p>
        </p:txBody>
      </p:sp>
      <p:sp>
        <p:nvSpPr>
          <p:cNvPr id="12" name="value-PV source">
            <a:extLst xmlns:a="http://schemas.openxmlformats.org/drawingml/2006/main">
              <a:ext uri="{FF2B5EF4-FFF2-40B4-BE49-F238E27FC236}">
                <a16:creationId xmlns:a16="http://schemas.microsoft.com/office/drawing/2014/main" id="{A362AE43-0126-4C4C-9619-DE079D1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238500"/>
            <a:ext cx="4972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B705"/>
                </a:solidFill>
              </a:defRPr>
            </a:pPr>
            <a:r>
              <a:rPr sz="4800" b="1">
                <a:solidFill>
                  <a:srgbClr val="F2B705"/>
                </a:solidFill>
              </a:rPr>
              <a:t>58,2 kWc</a:t>
            </a:r>
          </a:p>
        </p:txBody>
      </p:sp>
      <p:sp>
        <p:nvSpPr>
          <p:cNvPr id="13" name="label-PV source">
            <a:extLst xmlns:a="http://schemas.openxmlformats.org/drawingml/2006/main">
              <a:ext uri="{FF2B5EF4-FFF2-40B4-BE49-F238E27FC236}">
                <a16:creationId xmlns:a16="http://schemas.microsoft.com/office/drawing/2014/main" id="{475250BA-E9C6-4A57-A3E3-15CD5F4D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019550"/>
            <a:ext cx="497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PV source</a:t>
            </a:r>
          </a:p>
        </p:txBody>
      </p:sp>
      <p:sp>
        <p:nvSpPr>
          <p:cNvPr id="14" name="note-PV source">
            <a:extLst xmlns:a="http://schemas.openxmlformats.org/drawingml/2006/main">
              <a:ext uri="{FF2B5EF4-FFF2-40B4-BE49-F238E27FC236}">
                <a16:creationId xmlns:a16="http://schemas.microsoft.com/office/drawing/2014/main" id="{E757CA0C-B620-47FF-A8F8-D69A24C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305300"/>
            <a:ext cx="3257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simulation Renewables.ninja, localisation 42.772 / 2.700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CE0744-4F96-4FB8-9706-CDF5541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0159CBB-8D6C-4C2B-8390-C348FBA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2098419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5B338F01-85A2-4887-8FF0-5F8F2109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F7D89CC7-115F-44C6-A00A-4C63012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9DA9D55-6A18-49D0-8399-F699A0A8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DF6D7-45D9-4A24-983D-95E9281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Pipeline d'analyse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BDA3C1-E152-4441-86D1-802B00A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851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Le projet transforme des données brutes en scénarios de production exploitables.</a:t>
            </a:r>
          </a:p>
        </p:txBody>
      </p:sp>
      <p:sp>
        <p:nvSpPr>
          <p:cNvPr id="6" name="dot-1. Nettoyage">
            <a:extLst xmlns:a="http://schemas.openxmlformats.org/drawingml/2006/main">
              <a:ext uri="{FF2B5EF4-FFF2-40B4-BE49-F238E27FC236}">
                <a16:creationId xmlns:a16="http://schemas.microsoft.com/office/drawing/2014/main" id="{53331894-3C23-487E-A37F-ECDFDF3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</p:spPr>
      </p:sp>
      <p:sp>
        <p:nvSpPr>
          <p:cNvPr id="7" name="kicker-1. Nettoyage">
            <a:extLst xmlns:a="http://schemas.openxmlformats.org/drawingml/2006/main">
              <a:ext uri="{FF2B5EF4-FFF2-40B4-BE49-F238E27FC236}">
                <a16:creationId xmlns:a16="http://schemas.microsoft.com/office/drawing/2014/main" id="{64B0DB0F-7010-4126-9A62-AA73EA2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3850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1. Nettoyage</a:t>
            </a:r>
          </a:p>
        </p:txBody>
      </p:sp>
      <p:sp>
        <p:nvSpPr>
          <p:cNvPr id="8" name="body-1. Nettoyage">
            <a:extLst xmlns:a="http://schemas.openxmlformats.org/drawingml/2006/main">
              <a:ext uri="{FF2B5EF4-FFF2-40B4-BE49-F238E27FC236}">
                <a16:creationId xmlns:a16="http://schemas.microsoft.com/office/drawing/2014/main" id="{522C0C61-C80E-40F6-8414-FB0F2C8B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9582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Extraction de l'en-tête utile, normalisation des séparateurs et conversion des colonnes numériques.</a:t>
            </a:r>
          </a:p>
        </p:txBody>
      </p:sp>
      <p:sp>
        <p:nvSpPr>
          <p:cNvPr id="9" name="dot-2. Alignement temporel">
            <a:extLst xmlns:a="http://schemas.openxmlformats.org/drawingml/2006/main">
              <a:ext uri="{FF2B5EF4-FFF2-40B4-BE49-F238E27FC236}">
                <a16:creationId xmlns:a16="http://schemas.microsoft.com/office/drawing/2014/main" id="{446298A3-ABA8-4244-A831-8415B89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C99"/>
          </a:solidFill>
        </p:spPr>
      </p:sp>
      <p:sp>
        <p:nvSpPr>
          <p:cNvPr id="10" name="kicker-2. Alignement temporel">
            <a:extLst xmlns:a="http://schemas.openxmlformats.org/drawingml/2006/main">
              <a:ext uri="{FF2B5EF4-FFF2-40B4-BE49-F238E27FC236}">
                <a16:creationId xmlns:a16="http://schemas.microsoft.com/office/drawing/2014/main" id="{F96E2B29-5ED3-4352-AE3B-AB324B29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2. Alignement temporel</a:t>
            </a:r>
          </a:p>
        </p:txBody>
      </p:sp>
      <p:sp>
        <p:nvSpPr>
          <p:cNvPr id="11" name="body-2. Alignement temporel">
            <a:extLst xmlns:a="http://schemas.openxmlformats.org/drawingml/2006/main">
              <a:ext uri="{FF2B5EF4-FFF2-40B4-BE49-F238E27FC236}">
                <a16:creationId xmlns:a16="http://schemas.microsoft.com/office/drawing/2014/main" id="{F828FE0D-3AEC-445C-A499-BD5E5193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529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Passage en dates locales, regroupement par jour et calculs mensuels/annuels.</a:t>
            </a:r>
          </a:p>
        </p:txBody>
      </p:sp>
      <p:sp>
        <p:nvSpPr>
          <p:cNvPr id="12" name="dot-3. Scénarios PV">
            <a:extLst xmlns:a="http://schemas.openxmlformats.org/drawingml/2006/main">
              <a:ext uri="{FF2B5EF4-FFF2-40B4-BE49-F238E27FC236}">
                <a16:creationId xmlns:a16="http://schemas.microsoft.com/office/drawing/2014/main" id="{82E07985-A72D-429D-9D64-E586F16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05"/>
          </a:solidFill>
        </p:spPr>
      </p:sp>
      <p:sp>
        <p:nvSpPr>
          <p:cNvPr id="13" name="kicker-3. Scénarios PV">
            <a:extLst xmlns:a="http://schemas.openxmlformats.org/drawingml/2006/main">
              <a:ext uri="{FF2B5EF4-FFF2-40B4-BE49-F238E27FC236}">
                <a16:creationId xmlns:a16="http://schemas.microsoft.com/office/drawing/2014/main" id="{1A53E1D4-6081-4FD1-AA42-1C578508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3. Scénarios PV</a:t>
            </a:r>
          </a:p>
        </p:txBody>
      </p:sp>
      <p:sp>
        <p:nvSpPr>
          <p:cNvPr id="14" name="body-3. Scénarios PV">
            <a:extLst xmlns:a="http://schemas.openxmlformats.org/drawingml/2006/main">
              <a:ext uri="{FF2B5EF4-FFF2-40B4-BE49-F238E27FC236}">
                <a16:creationId xmlns:a16="http://schemas.microsoft.com/office/drawing/2014/main" id="{F6BB805F-790B-4666-AB8F-4593816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00700"/>
            <a:ext cx="10496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Hypothèse principale : la série solaire correspond au scénario 290 panneaux, puis mise à l'échelle vers 250 et 350 panneaux.</a:t>
            </a:r>
          </a:p>
        </p:txBody>
      </p:sp>
      <p:sp>
        <p:nvSpPr>
          <p:cNvPr id="15" name="dot-4. Stress test">
            <a:extLst xmlns:a="http://schemas.openxmlformats.org/drawingml/2006/main">
              <a:ext uri="{FF2B5EF4-FFF2-40B4-BE49-F238E27FC236}">
                <a16:creationId xmlns:a16="http://schemas.microsoft.com/office/drawing/2014/main" id="{180E6D25-040E-4449-97F2-8EA441D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817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31"/>
          </a:solidFill>
        </p:spPr>
      </p:sp>
      <p:sp>
        <p:nvSpPr>
          <p:cNvPr id="16" name="kicker-4. Stress test">
            <a:extLst xmlns:a="http://schemas.openxmlformats.org/drawingml/2006/main">
              <a:ext uri="{FF2B5EF4-FFF2-40B4-BE49-F238E27FC236}">
                <a16:creationId xmlns:a16="http://schemas.microsoft.com/office/drawing/2014/main" id="{B62EBB1D-CA60-438A-A3FF-9B2EFCC7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8175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4. Stress test</a:t>
            </a:r>
          </a:p>
        </p:txBody>
      </p:sp>
      <p:sp>
        <p:nvSpPr>
          <p:cNvPr id="17" name="body-4. Stress test">
            <a:extLst xmlns:a="http://schemas.openxmlformats.org/drawingml/2006/main">
              <a:ext uri="{FF2B5EF4-FFF2-40B4-BE49-F238E27FC236}">
                <a16:creationId xmlns:a16="http://schemas.microsoft.com/office/drawing/2014/main" id="{41F61BD3-6345-4181-AFD4-0557003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4845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Recherche des 5 fenêtres glissantes de 15 jours avec la production totale la plus faible.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08D2D82-5927-4408-A088-A03019F9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247CB85-8A8C-42EF-8E85-E1C9C05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14610354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F78140FF-5993-4877-BFD1-70E7D3F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9FBCBF5E-6FD9-48AD-9F3E-A1470B3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80801F52-9245-43F1-B67A-9EFD421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32A4B4-FB3A-4527-938B-15FF198F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Résultat annuel de référence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AE8315-06F8-49C5-A0E8-9796D48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102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Le mix de référence couvre environ trois quarts de la consommation annuelle, avec une forte saisonnalité.</a:t>
            </a:r>
          </a:p>
        </p:txBody>
      </p:sp>
      <p:sp>
        <p:nvSpPr>
          <p:cNvPr id="6" name="value-Éolien annuel">
            <a:extLst xmlns:a="http://schemas.openxmlformats.org/drawingml/2006/main">
              <a:ext uri="{FF2B5EF4-FFF2-40B4-BE49-F238E27FC236}">
                <a16:creationId xmlns:a16="http://schemas.microsoft.com/office/drawing/2014/main" id="{4120AE7F-F557-417F-975F-DC8C34B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6438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E8C99"/>
                </a:solidFill>
              </a:defRPr>
            </a:pPr>
            <a:r>
              <a:rPr sz="4800" b="1">
                <a:solidFill>
                  <a:srgbClr val="3E8C99"/>
                </a:solidFill>
              </a:rPr>
              <a:t>165,7 MWh</a:t>
            </a:r>
          </a:p>
        </p:txBody>
      </p:sp>
      <p:sp>
        <p:nvSpPr>
          <p:cNvPr id="7" name="label-Éolien annuel">
            <a:extLst xmlns:a="http://schemas.openxmlformats.org/drawingml/2006/main">
              <a:ext uri="{FF2B5EF4-FFF2-40B4-BE49-F238E27FC236}">
                <a16:creationId xmlns:a16="http://schemas.microsoft.com/office/drawing/2014/main" id="{310689AB-2FA8-44D6-B436-19B7DFE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643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Éolien annuel</a:t>
            </a:r>
          </a:p>
        </p:txBody>
      </p:sp>
      <p:sp>
        <p:nvSpPr>
          <p:cNvPr id="8" name="note-Éolien annuel">
            <a:extLst xmlns:a="http://schemas.openxmlformats.org/drawingml/2006/main">
              <a:ext uri="{FF2B5EF4-FFF2-40B4-BE49-F238E27FC236}">
                <a16:creationId xmlns:a16="http://schemas.microsoft.com/office/drawing/2014/main" id="{4F7AA132-5CA7-431A-8153-BA60E58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114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source la plus productive sur l'année</a:t>
            </a:r>
          </a:p>
        </p:txBody>
      </p:sp>
      <p:sp>
        <p:nvSpPr>
          <p:cNvPr id="9" name="value-Solaire annuel">
            <a:extLst xmlns:a="http://schemas.openxmlformats.org/drawingml/2006/main">
              <a:ext uri="{FF2B5EF4-FFF2-40B4-BE49-F238E27FC236}">
                <a16:creationId xmlns:a16="http://schemas.microsoft.com/office/drawing/2014/main" id="{EDB05D44-3788-4ADD-9293-1C932E4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6438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B705"/>
                </a:solidFill>
              </a:defRPr>
            </a:pPr>
            <a:r>
              <a:rPr sz="4800" b="1">
                <a:solidFill>
                  <a:srgbClr val="F2B705"/>
                </a:solidFill>
              </a:rPr>
              <a:t>81,7 MWh</a:t>
            </a:r>
          </a:p>
        </p:txBody>
      </p:sp>
      <p:sp>
        <p:nvSpPr>
          <p:cNvPr id="10" name="label-Solaire annuel">
            <a:extLst xmlns:a="http://schemas.openxmlformats.org/drawingml/2006/main">
              <a:ext uri="{FF2B5EF4-FFF2-40B4-BE49-F238E27FC236}">
                <a16:creationId xmlns:a16="http://schemas.microsoft.com/office/drawing/2014/main" id="{DA99D5C9-313B-4E12-BFC7-9C37814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643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Solaire annuel</a:t>
            </a:r>
          </a:p>
        </p:txBody>
      </p:sp>
      <p:sp>
        <p:nvSpPr>
          <p:cNvPr id="11" name="note-Solaire annuel">
            <a:extLst xmlns:a="http://schemas.openxmlformats.org/drawingml/2006/main">
              <a:ext uri="{FF2B5EF4-FFF2-40B4-BE49-F238E27FC236}">
                <a16:creationId xmlns:a16="http://schemas.microsoft.com/office/drawing/2014/main" id="{75DB0B43-A194-43D3-9DE6-C7E4457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2114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scénario de référence 290 panneaux</a:t>
            </a:r>
          </a:p>
        </p:txBody>
      </p:sp>
      <p:sp>
        <p:nvSpPr>
          <p:cNvPr id="12" name="value-Couverture">
            <a:extLst xmlns:a="http://schemas.openxmlformats.org/drawingml/2006/main">
              <a:ext uri="{FF2B5EF4-FFF2-40B4-BE49-F238E27FC236}">
                <a16:creationId xmlns:a16="http://schemas.microsoft.com/office/drawing/2014/main" id="{63688EFE-B4DA-450A-A14D-8B57DDCF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57950"/>
            <a:ext cx="6438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F8F5B"/>
                </a:solidFill>
              </a:defRPr>
            </a:pPr>
            <a:r>
              <a:rPr sz="4800" b="1">
                <a:solidFill>
                  <a:srgbClr val="2F8F5B"/>
                </a:solidFill>
              </a:rPr>
              <a:t>75,1 %</a:t>
            </a:r>
          </a:p>
        </p:txBody>
      </p:sp>
      <p:sp>
        <p:nvSpPr>
          <p:cNvPr id="13" name="label-Couverture">
            <a:extLst xmlns:a="http://schemas.openxmlformats.org/drawingml/2006/main">
              <a:ext uri="{FF2B5EF4-FFF2-40B4-BE49-F238E27FC236}">
                <a16:creationId xmlns:a16="http://schemas.microsoft.com/office/drawing/2014/main" id="{368EB1FA-0C17-4619-B821-0EDAE62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643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Couverture</a:t>
            </a:r>
          </a:p>
        </p:txBody>
      </p:sp>
      <p:sp>
        <p:nvSpPr>
          <p:cNvPr id="14" name="note-Couverture">
            <a:extLst xmlns:a="http://schemas.openxmlformats.org/drawingml/2006/main">
              <a:ext uri="{FF2B5EF4-FFF2-40B4-BE49-F238E27FC236}">
                <a16:creationId xmlns:a16="http://schemas.microsoft.com/office/drawing/2014/main" id="{461587CB-904C-4348-AF41-67294A6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05700"/>
            <a:ext cx="2686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production annuelle / consommation annuelle</a:t>
            </a:r>
          </a:p>
        </p:txBody>
      </p:sp>
      <p:sp>
        <p:nvSpPr>
          <p:cNvPr id="15" name="bars-title">
            <a:extLst xmlns:a="http://schemas.openxmlformats.org/drawingml/2006/main">
              <a:ext uri="{FF2B5EF4-FFF2-40B4-BE49-F238E27FC236}">
                <a16:creationId xmlns:a16="http://schemas.microsoft.com/office/drawing/2014/main" id="{FC3660C2-04BE-47FE-9940-3302BB9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870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02B"/>
                </a:solidFill>
              </a:defRPr>
            </a:pPr>
            <a:r>
              <a:rPr sz="1800" b="1">
                <a:solidFill>
                  <a:srgbClr val="16302B"/>
                </a:solidFill>
              </a:rPr>
              <a:t>Production mensuelle la plus représentative</a:t>
            </a:r>
          </a:p>
        </p:txBody>
      </p:sp>
      <p:sp>
        <p:nvSpPr>
          <p:cNvPr id="16" name="bar-label-janvier">
            <a:extLst xmlns:a="http://schemas.openxmlformats.org/drawingml/2006/main">
              <a:ext uri="{FF2B5EF4-FFF2-40B4-BE49-F238E27FC236}">
                <a16:creationId xmlns:a16="http://schemas.microsoft.com/office/drawing/2014/main" id="{FBDDF14C-FBF3-4DC8-B5F3-677E1A34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janvier</a:t>
            </a:r>
          </a:p>
        </p:txBody>
      </p:sp>
      <p:sp>
        <p:nvSpPr>
          <p:cNvPr id="17" name="bar-track-janvier">
            <a:extLst xmlns:a="http://schemas.openxmlformats.org/drawingml/2006/main">
              <a:ext uri="{FF2B5EF4-FFF2-40B4-BE49-F238E27FC236}">
                <a16:creationId xmlns:a16="http://schemas.microsoft.com/office/drawing/2014/main" id="{193D606B-8F2B-44D1-BE4A-5DCEAA65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382905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8"/>
          </a:solidFill>
        </p:spPr>
      </p:sp>
      <p:sp>
        <p:nvSpPr>
          <p:cNvPr id="18" name="bar-fill-janvier">
            <a:extLst xmlns:a="http://schemas.openxmlformats.org/drawingml/2006/main">
              <a:ext uri="{FF2B5EF4-FFF2-40B4-BE49-F238E27FC236}">
                <a16:creationId xmlns:a16="http://schemas.microsoft.com/office/drawing/2014/main" id="{ED7B9F21-3BE0-4919-AB75-F56FF9F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C99"/>
          </a:solidFill>
        </p:spPr>
      </p:sp>
      <p:sp>
        <p:nvSpPr>
          <p:cNvPr id="19" name="bar-value-janvier">
            <a:extLst xmlns:a="http://schemas.openxmlformats.org/drawingml/2006/main">
              <a:ext uri="{FF2B5EF4-FFF2-40B4-BE49-F238E27FC236}">
                <a16:creationId xmlns:a16="http://schemas.microsoft.com/office/drawing/2014/main" id="{67355B6A-A840-49D4-976A-E93A08E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790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34.0 GWh</a:t>
            </a:r>
          </a:p>
        </p:txBody>
      </p:sp>
      <p:sp>
        <p:nvSpPr>
          <p:cNvPr id="20" name="bar-label-mai">
            <a:extLst xmlns:a="http://schemas.openxmlformats.org/drawingml/2006/main">
              <a:ext uri="{FF2B5EF4-FFF2-40B4-BE49-F238E27FC236}">
                <a16:creationId xmlns:a16="http://schemas.microsoft.com/office/drawing/2014/main" id="{A1F4C034-0BF5-410E-A2B5-752E6F8E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mai</a:t>
            </a:r>
          </a:p>
        </p:txBody>
      </p:sp>
      <p:sp>
        <p:nvSpPr>
          <p:cNvPr id="21" name="bar-track-mai">
            <a:extLst xmlns:a="http://schemas.openxmlformats.org/drawingml/2006/main">
              <a:ext uri="{FF2B5EF4-FFF2-40B4-BE49-F238E27FC236}">
                <a16:creationId xmlns:a16="http://schemas.microsoft.com/office/drawing/2014/main" id="{EDFE051C-B812-485C-86BA-AC8AA57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449580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8"/>
          </a:solidFill>
        </p:spPr>
      </p:sp>
      <p:sp>
        <p:nvSpPr>
          <p:cNvPr id="22" name="bar-fill-mai">
            <a:extLst xmlns:a="http://schemas.openxmlformats.org/drawingml/2006/main">
              <a:ext uri="{FF2B5EF4-FFF2-40B4-BE49-F238E27FC236}">
                <a16:creationId xmlns:a16="http://schemas.microsoft.com/office/drawing/2014/main" id="{3BC516BF-5022-496D-91A4-D902E6C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3257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</p:spPr>
      </p:sp>
      <p:sp>
        <p:nvSpPr>
          <p:cNvPr id="23" name="bar-value-mai">
            <a:extLst xmlns:a="http://schemas.openxmlformats.org/drawingml/2006/main">
              <a:ext uri="{FF2B5EF4-FFF2-40B4-BE49-F238E27FC236}">
                <a16:creationId xmlns:a16="http://schemas.microsoft.com/office/drawing/2014/main" id="{60F6AFF2-3645-41A7-948E-2075F88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45770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25.3 GWh</a:t>
            </a:r>
          </a:p>
        </p:txBody>
      </p:sp>
      <p:sp>
        <p:nvSpPr>
          <p:cNvPr id="24" name="bar-label-aout">
            <a:extLst xmlns:a="http://schemas.openxmlformats.org/drawingml/2006/main">
              <a:ext uri="{FF2B5EF4-FFF2-40B4-BE49-F238E27FC236}">
                <a16:creationId xmlns:a16="http://schemas.microsoft.com/office/drawing/2014/main" id="{B4002664-6670-4A8C-A018-D337639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aout</a:t>
            </a:r>
          </a:p>
        </p:txBody>
      </p:sp>
      <p:sp>
        <p:nvSpPr>
          <p:cNvPr id="25" name="bar-track-aout">
            <a:extLst xmlns:a="http://schemas.openxmlformats.org/drawingml/2006/main">
              <a:ext uri="{FF2B5EF4-FFF2-40B4-BE49-F238E27FC236}">
                <a16:creationId xmlns:a16="http://schemas.microsoft.com/office/drawing/2014/main" id="{D005404B-8DEC-4D22-9A33-0A52EA90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516255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8"/>
          </a:solidFill>
        </p:spPr>
      </p:sp>
      <p:sp>
        <p:nvSpPr>
          <p:cNvPr id="26" name="bar-fill-aout">
            <a:extLst xmlns:a="http://schemas.openxmlformats.org/drawingml/2006/main">
              <a:ext uri="{FF2B5EF4-FFF2-40B4-BE49-F238E27FC236}">
                <a16:creationId xmlns:a16="http://schemas.microsoft.com/office/drawing/2014/main" id="{D48B41D3-159A-4456-9955-1ECE125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18192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05"/>
          </a:solidFill>
        </p:spPr>
      </p:sp>
      <p:sp>
        <p:nvSpPr>
          <p:cNvPr id="27" name="bar-value-aout">
            <a:extLst xmlns:a="http://schemas.openxmlformats.org/drawingml/2006/main">
              <a:ext uri="{FF2B5EF4-FFF2-40B4-BE49-F238E27FC236}">
                <a16:creationId xmlns:a16="http://schemas.microsoft.com/office/drawing/2014/main" id="{4A70A2C9-DF72-42B0-AA76-01EE909C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1244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14.1 GWh</a:t>
            </a:r>
          </a:p>
        </p:txBody>
      </p:sp>
      <p:sp>
        <p:nvSpPr>
          <p:cNvPr id="28" name="bar-label-sept.">
            <a:extLst xmlns:a="http://schemas.openxmlformats.org/drawingml/2006/main">
              <a:ext uri="{FF2B5EF4-FFF2-40B4-BE49-F238E27FC236}">
                <a16:creationId xmlns:a16="http://schemas.microsoft.com/office/drawing/2014/main" id="{250DCBF2-413F-4842-AC17-67E8E04E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0250"/>
            <a:ext cx="1000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sept.</a:t>
            </a:r>
          </a:p>
        </p:txBody>
      </p:sp>
      <p:sp>
        <p:nvSpPr>
          <p:cNvPr id="29" name="bar-track-sept.">
            <a:extLst xmlns:a="http://schemas.openxmlformats.org/drawingml/2006/main">
              <a:ext uri="{FF2B5EF4-FFF2-40B4-BE49-F238E27FC236}">
                <a16:creationId xmlns:a16="http://schemas.microsoft.com/office/drawing/2014/main" id="{2D3779DE-0911-406B-8FB9-64F428E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94" y="5829300"/>
            <a:ext cx="438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E8"/>
          </a:solidFill>
        </p:spPr>
      </p:sp>
      <p:sp>
        <p:nvSpPr>
          <p:cNvPr id="30" name="bar-fill-sept.">
            <a:extLst xmlns:a="http://schemas.openxmlformats.org/drawingml/2006/main">
              <a:ext uri="{FF2B5EF4-FFF2-40B4-BE49-F238E27FC236}">
                <a16:creationId xmlns:a16="http://schemas.microsoft.com/office/drawing/2014/main" id="{B46AE01F-0035-4B27-8E1B-B5CEE4D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67400"/>
            <a:ext cx="2047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31"/>
          </a:solidFill>
        </p:spPr>
      </p:sp>
      <p:sp>
        <p:nvSpPr>
          <p:cNvPr id="31" name="bar-value-sept.">
            <a:extLst xmlns:a="http://schemas.openxmlformats.org/drawingml/2006/main">
              <a:ext uri="{FF2B5EF4-FFF2-40B4-BE49-F238E27FC236}">
                <a16:creationId xmlns:a16="http://schemas.microsoft.com/office/drawing/2014/main" id="{26557F93-2F1B-4FEE-8620-3A32B06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79120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15.9 GWh</a:t>
            </a:r>
          </a:p>
        </p:txBody>
      </p:sp>
      <p:sp>
        <p:nvSpPr>
          <p:cNvPr id="32" name="bars-note">
            <a:extLst xmlns:a="http://schemas.openxmlformats.org/drawingml/2006/main">
              <a:ext uri="{FF2B5EF4-FFF2-40B4-BE49-F238E27FC236}">
                <a16:creationId xmlns:a16="http://schemas.microsoft.com/office/drawing/2014/main" id="{6C44AE29-17A6-45B5-B2D1-D7F8F4AA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3436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Lecture : production éolien + solaire du scénario de référence.</a:t>
            </a:r>
          </a:p>
        </p:txBody>
      </p:sp>
      <p:sp>
        <p:nvSpPr>
          <p:cNvPr id="3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35A9BE-00EB-4E18-91D8-58190B9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3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24D823F-743E-471F-AED0-4E69876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1581270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4522CF3B-59BD-4E36-931F-34900732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6D5F34D8-B9C3-48DA-8B62-74BCCBB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0BF8044-6473-4E5F-8B73-5204059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75E3EE-8BA5-4FCD-B615-45F7B1F2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Dimensionnement PV : le gain est reel mais progressif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0FA232-BDDA-4270-8A1B-EB3867F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112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Ajouter des panneaux améliore la couverture, sans supprimer le besoin d'analyser les creux de production.</a:t>
            </a:r>
          </a:p>
        </p:txBody>
      </p:sp>
      <p:sp>
        <p:nvSpPr>
          <p:cNvPr id="6" name="value-250 panneaux">
            <a:extLst xmlns:a="http://schemas.openxmlformats.org/drawingml/2006/main">
              <a:ext uri="{FF2B5EF4-FFF2-40B4-BE49-F238E27FC236}">
                <a16:creationId xmlns:a16="http://schemas.microsoft.com/office/drawing/2014/main" id="{D627413A-7E47-41F3-8959-A2468F58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E8C99"/>
                </a:solidFill>
              </a:defRPr>
            </a:pPr>
            <a:r>
              <a:rPr sz="4800" b="1">
                <a:solidFill>
                  <a:srgbClr val="3E8C99"/>
                </a:solidFill>
              </a:rPr>
              <a:t>71,7 %</a:t>
            </a:r>
          </a:p>
        </p:txBody>
      </p:sp>
      <p:sp>
        <p:nvSpPr>
          <p:cNvPr id="7" name="label-250 panneaux">
            <a:extLst xmlns:a="http://schemas.openxmlformats.org/drawingml/2006/main">
              <a:ext uri="{FF2B5EF4-FFF2-40B4-BE49-F238E27FC236}">
                <a16:creationId xmlns:a16="http://schemas.microsoft.com/office/drawing/2014/main" id="{0F9AF07B-4A75-4D5E-A000-F40B50E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250 panneaux</a:t>
            </a:r>
          </a:p>
        </p:txBody>
      </p:sp>
      <p:sp>
        <p:nvSpPr>
          <p:cNvPr id="8" name="note-250 panneaux">
            <a:extLst xmlns:a="http://schemas.openxmlformats.org/drawingml/2006/main">
              <a:ext uri="{FF2B5EF4-FFF2-40B4-BE49-F238E27FC236}">
                <a16:creationId xmlns:a16="http://schemas.microsoft.com/office/drawing/2014/main" id="{96BC1067-C6D3-4FAC-9BBE-CD62D353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236 MWh/an produits</a:t>
            </a:r>
          </a:p>
        </p:txBody>
      </p:sp>
      <p:sp>
        <p:nvSpPr>
          <p:cNvPr id="9" name="value-290 panneaux">
            <a:extLst xmlns:a="http://schemas.openxmlformats.org/drawingml/2006/main">
              <a:ext uri="{FF2B5EF4-FFF2-40B4-BE49-F238E27FC236}">
                <a16:creationId xmlns:a16="http://schemas.microsoft.com/office/drawing/2014/main" id="{6E5EF7C1-EE3E-4799-8895-D04B3179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F8F5B"/>
                </a:solidFill>
              </a:defRPr>
            </a:pPr>
            <a:r>
              <a:rPr sz="4800" b="1">
                <a:solidFill>
                  <a:srgbClr val="2F8F5B"/>
                </a:solidFill>
              </a:rPr>
              <a:t>75,1 %</a:t>
            </a:r>
          </a:p>
        </p:txBody>
      </p:sp>
      <p:sp>
        <p:nvSpPr>
          <p:cNvPr id="10" name="label-290 panneaux">
            <a:extLst xmlns:a="http://schemas.openxmlformats.org/drawingml/2006/main">
              <a:ext uri="{FF2B5EF4-FFF2-40B4-BE49-F238E27FC236}">
                <a16:creationId xmlns:a16="http://schemas.microsoft.com/office/drawing/2014/main" id="{0D9A26D6-D56C-40E5-A80C-78FB71E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290 panneaux</a:t>
            </a:r>
          </a:p>
        </p:txBody>
      </p:sp>
      <p:sp>
        <p:nvSpPr>
          <p:cNvPr id="11" name="note-290 panneaux">
            <a:extLst xmlns:a="http://schemas.openxmlformats.org/drawingml/2006/main">
              <a:ext uri="{FF2B5EF4-FFF2-40B4-BE49-F238E27FC236}">
                <a16:creationId xmlns:a16="http://schemas.microsoft.com/office/drawing/2014/main" id="{12A614FE-D894-4334-B739-BA786FC4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247 MWh/an produits</a:t>
            </a:r>
          </a:p>
        </p:txBody>
      </p:sp>
      <p:sp>
        <p:nvSpPr>
          <p:cNvPr id="12" name="value-350 panneaux">
            <a:extLst xmlns:a="http://schemas.openxmlformats.org/drawingml/2006/main">
              <a:ext uri="{FF2B5EF4-FFF2-40B4-BE49-F238E27FC236}">
                <a16:creationId xmlns:a16="http://schemas.microsoft.com/office/drawing/2014/main" id="{66A1519C-79C1-4B19-83B4-576C81DB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385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B705"/>
                </a:solidFill>
              </a:defRPr>
            </a:pPr>
            <a:r>
              <a:rPr sz="4800" b="1">
                <a:solidFill>
                  <a:srgbClr val="F2B705"/>
                </a:solidFill>
              </a:rPr>
              <a:t>80,2 %</a:t>
            </a:r>
          </a:p>
        </p:txBody>
      </p:sp>
      <p:sp>
        <p:nvSpPr>
          <p:cNvPr id="13" name="label-350 panneaux">
            <a:extLst xmlns:a="http://schemas.openxmlformats.org/drawingml/2006/main">
              <a:ext uri="{FF2B5EF4-FFF2-40B4-BE49-F238E27FC236}">
                <a16:creationId xmlns:a16="http://schemas.microsoft.com/office/drawing/2014/main" id="{5E729166-2E37-4FAF-A4DD-2DE3356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0195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350 panneaux</a:t>
            </a:r>
          </a:p>
        </p:txBody>
      </p:sp>
      <p:sp>
        <p:nvSpPr>
          <p:cNvPr id="14" name="note-350 panneaux">
            <a:extLst xmlns:a="http://schemas.openxmlformats.org/drawingml/2006/main">
              <a:ext uri="{FF2B5EF4-FFF2-40B4-BE49-F238E27FC236}">
                <a16:creationId xmlns:a16="http://schemas.microsoft.com/office/drawing/2014/main" id="{B478E5B3-DF40-44F3-9C91-113B3322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305300"/>
            <a:ext cx="129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65F"/>
                </a:solidFill>
              </a:defRPr>
            </a:pPr>
            <a:r>
              <a:rPr sz="1125">
                <a:solidFill>
                  <a:srgbClr val="4F665F"/>
                </a:solidFill>
              </a:rPr>
              <a:t>264 MWh/an produits</a:t>
            </a:r>
          </a:p>
        </p:txBody>
      </p:sp>
      <p:sp>
        <p:nvSpPr>
          <p:cNvPr id="15" name="scenario-rule">
            <a:extLst xmlns:a="http://schemas.openxmlformats.org/drawingml/2006/main">
              <a:ext uri="{FF2B5EF4-FFF2-40B4-BE49-F238E27FC236}">
                <a16:creationId xmlns:a16="http://schemas.microsoft.com/office/drawing/2014/main" id="{19FED764-D716-4044-A101-A4B743E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581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CF"/>
          </a:solidFill>
          <a:ln xmlns:a="http://schemas.openxmlformats.org/drawingml/2006/main" w="0">
            <a:solidFill>
              <a:srgbClr val="CAD8CF"/>
            </a:solidFill>
            <a:prstDash val="solid"/>
          </a:ln>
        </p:spPr>
      </p:sp>
      <p:sp>
        <p:nvSpPr>
          <p:cNvPr id="16" name="low-title">
            <a:extLst xmlns:a="http://schemas.openxmlformats.org/drawingml/2006/main">
              <a:ext uri="{FF2B5EF4-FFF2-40B4-BE49-F238E27FC236}">
                <a16:creationId xmlns:a16="http://schemas.microsoft.com/office/drawing/2014/main" id="{2C970741-B578-45A4-A4B7-1A862FAB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4C31"/>
                </a:solidFill>
              </a:defRPr>
            </a:pPr>
            <a:r>
              <a:rPr sz="2025" b="1">
                <a:solidFill>
                  <a:srgbClr val="C84C31"/>
                </a:solidFill>
              </a:rPr>
              <a:t>Fenêtre critique</a:t>
            </a:r>
          </a:p>
        </p:txBody>
      </p:sp>
      <p:sp>
        <p:nvSpPr>
          <p:cNvPr id="17" name="low-copy">
            <a:extLst xmlns:a="http://schemas.openxmlformats.org/drawingml/2006/main">
              <a:ext uri="{FF2B5EF4-FFF2-40B4-BE49-F238E27FC236}">
                <a16:creationId xmlns:a16="http://schemas.microsoft.com/office/drawing/2014/main" id="{8D396008-2904-4F5C-8EBC-07AB0B0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14950"/>
            <a:ext cx="9753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Les trois scénarios ont leur plus faible production glissante de 15 jours autour du 28 septembre 2019.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EB6E03B-2C9F-4F1A-8020-E44ACFC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9042EEE-395B-4A9D-9110-D6D51FC8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13589748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fill">
            <a:extLst xmlns:a="http://schemas.openxmlformats.org/drawingml/2006/main">
              <a:ext uri="{FF2B5EF4-FFF2-40B4-BE49-F238E27FC236}">
                <a16:creationId xmlns:a16="http://schemas.microsoft.com/office/drawing/2014/main" id="{2F44EFE1-A864-44CB-A848-F758C96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</p:spPr>
      </p:sp>
      <p:sp>
        <p:nvSpPr>
          <p:cNvPr id="2" name="sun-band">
            <a:extLst xmlns:a="http://schemas.openxmlformats.org/drawingml/2006/main">
              <a:ext uri="{FF2B5EF4-FFF2-40B4-BE49-F238E27FC236}">
                <a16:creationId xmlns:a16="http://schemas.microsoft.com/office/drawing/2014/main" id="{5A6FD4AC-5970-4386-86C7-BB4EAA40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9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D9B29BC-886A-4ABF-BBA2-0D75BD0F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EAAC3A-55C9-4873-94CE-1DF803C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02B"/>
                </a:solidFill>
              </a:defRPr>
            </a:pPr>
            <a:r>
              <a:rPr sz="3900" b="1">
                <a:solidFill>
                  <a:srgbClr val="16302B"/>
                </a:solidFill>
              </a:rPr>
              <a:t>Conclusion pour la suite du projet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A06988-37C9-4857-BE33-C202E08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0934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F665F"/>
                </a:solidFill>
              </a:defRPr>
            </a:pPr>
            <a:r>
              <a:rPr sz="2025">
                <a:solidFill>
                  <a:srgbClr val="4F665F"/>
                </a:solidFill>
              </a:rPr>
              <a:t>Le prototype donne une base solide pour choisir un dimensionnement, mais quelques validations restent prioritaires.</a:t>
            </a:r>
          </a:p>
        </p:txBody>
      </p:sp>
      <p:sp>
        <p:nvSpPr>
          <p:cNvPr id="6" name="dot-Résultat principal">
            <a:extLst xmlns:a="http://schemas.openxmlformats.org/drawingml/2006/main">
              <a:ext uri="{FF2B5EF4-FFF2-40B4-BE49-F238E27FC236}">
                <a16:creationId xmlns:a16="http://schemas.microsoft.com/office/drawing/2014/main" id="{FDD2BFFF-6006-4FB6-83F2-D011DA4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</p:spPr>
      </p:sp>
      <p:sp>
        <p:nvSpPr>
          <p:cNvPr id="7" name="kicker-Résultat principal">
            <a:extLst xmlns:a="http://schemas.openxmlformats.org/drawingml/2006/main">
              <a:ext uri="{FF2B5EF4-FFF2-40B4-BE49-F238E27FC236}">
                <a16:creationId xmlns:a16="http://schemas.microsoft.com/office/drawing/2014/main" id="{14B7AB29-E601-4DA9-BCF0-3CFABA4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3850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Résultat principal</a:t>
            </a:r>
          </a:p>
        </p:txBody>
      </p:sp>
      <p:sp>
        <p:nvSpPr>
          <p:cNvPr id="8" name="body-Résultat principal">
            <a:extLst xmlns:a="http://schemas.openxmlformats.org/drawingml/2006/main">
              <a:ext uri="{FF2B5EF4-FFF2-40B4-BE49-F238E27FC236}">
                <a16:creationId xmlns:a16="http://schemas.microsoft.com/office/drawing/2014/main" id="{FF01FFF7-C374-4906-8C0E-3556CD9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Le scénario 290 panneaux atteint environ 75 % de couverture annuelle ; 350 panneaux montent à environ 80 %.</a:t>
            </a:r>
          </a:p>
        </p:txBody>
      </p:sp>
      <p:sp>
        <p:nvSpPr>
          <p:cNvPr id="9" name="dot-Décision à instruire">
            <a:extLst xmlns:a="http://schemas.openxmlformats.org/drawingml/2006/main">
              <a:ext uri="{FF2B5EF4-FFF2-40B4-BE49-F238E27FC236}">
                <a16:creationId xmlns:a16="http://schemas.microsoft.com/office/drawing/2014/main" id="{FB70629A-4633-448D-9EAE-58827C3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705"/>
          </a:solidFill>
        </p:spPr>
      </p:sp>
      <p:sp>
        <p:nvSpPr>
          <p:cNvPr id="10" name="kicker-Décision à instruire">
            <a:extLst xmlns:a="http://schemas.openxmlformats.org/drawingml/2006/main">
              <a:ext uri="{FF2B5EF4-FFF2-40B4-BE49-F238E27FC236}">
                <a16:creationId xmlns:a16="http://schemas.microsoft.com/office/drawing/2014/main" id="{54722A5F-CB50-4110-8586-160E1F44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Décision à instruire</a:t>
            </a:r>
          </a:p>
        </p:txBody>
      </p:sp>
      <p:sp>
        <p:nvSpPr>
          <p:cNvPr id="11" name="body-Décision à instruire">
            <a:extLst xmlns:a="http://schemas.openxmlformats.org/drawingml/2006/main">
              <a:ext uri="{FF2B5EF4-FFF2-40B4-BE49-F238E27FC236}">
                <a16:creationId xmlns:a16="http://schemas.microsoft.com/office/drawing/2014/main" id="{B51FC52F-671A-4697-A961-D60EC47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9886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Choisir entre coût d'investissement PV supplémentaire et besoin de stockage ou d'appoint pendant les périodes faibles.</a:t>
            </a:r>
          </a:p>
        </p:txBody>
      </p:sp>
      <p:sp>
        <p:nvSpPr>
          <p:cNvPr id="12" name="dot-Vérification critique">
            <a:extLst xmlns:a="http://schemas.openxmlformats.org/drawingml/2006/main">
              <a:ext uri="{FF2B5EF4-FFF2-40B4-BE49-F238E27FC236}">
                <a16:creationId xmlns:a16="http://schemas.microsoft.com/office/drawing/2014/main" id="{A940C362-B565-4F2C-B7C2-3338F5F4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31"/>
          </a:solidFill>
        </p:spPr>
      </p:sp>
      <p:sp>
        <p:nvSpPr>
          <p:cNvPr id="13" name="kicker-Vérification critique">
            <a:extLst xmlns:a="http://schemas.openxmlformats.org/drawingml/2006/main">
              <a:ext uri="{FF2B5EF4-FFF2-40B4-BE49-F238E27FC236}">
                <a16:creationId xmlns:a16="http://schemas.microsoft.com/office/drawing/2014/main" id="{C8C4AC3D-32F9-4255-80B5-3E493ACC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1552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02B"/>
                </a:solidFill>
              </a:defRPr>
            </a:pPr>
            <a:r>
              <a:rPr sz="1425" b="1">
                <a:solidFill>
                  <a:srgbClr val="16302B"/>
                </a:solidFill>
              </a:rPr>
              <a:t>Vérification critique</a:t>
            </a:r>
          </a:p>
        </p:txBody>
      </p:sp>
      <p:sp>
        <p:nvSpPr>
          <p:cNvPr id="14" name="body-Vérification critique">
            <a:extLst xmlns:a="http://schemas.openxmlformats.org/drawingml/2006/main">
              <a:ext uri="{FF2B5EF4-FFF2-40B4-BE49-F238E27FC236}">
                <a16:creationId xmlns:a16="http://schemas.microsoft.com/office/drawing/2014/main" id="{3430B6A0-8971-4AEA-930D-68080E11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29300"/>
            <a:ext cx="10058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302B"/>
                </a:solidFill>
              </a:defRPr>
            </a:pPr>
            <a:r>
              <a:rPr sz="1875">
                <a:solidFill>
                  <a:srgbClr val="16302B"/>
                </a:solidFill>
              </a:rPr>
              <a:t>Confirmer l'unité de la colonne éolienne et l'interprétation exacte de la colonne solaire avant de figer les résultats.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38FA16-31E7-4A25-87BB-6B9BC6A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0"/>
            <a:ext cx="2190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Projet SG8 - Energies renouvelables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411EA67-9A91-4AD4-B9BB-423278E5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202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65F"/>
                </a:solidFill>
              </a:defRPr>
            </a:pPr>
            <a:r>
              <a:rPr sz="1200">
                <a:solidFill>
                  <a:srgbClr val="4F665F"/>
                </a:solidFill>
              </a:rPr>
              <a:t>Données 2019</a:t>
            </a:r>
          </a:p>
        </p:txBody>
      </p:sp>
    </p:spTree>
    <p:extLst>
      <p:ext uri="{BB962C8B-B14F-4D97-AF65-F5344CB8AC3E}">
        <p14:creationId xmlns:p14="http://schemas.microsoft.com/office/powerpoint/2010/main" val="1618611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2026-05-20T08:54:47.5770000Z</dcterms:created>
  <dcterms:modified xsi:type="dcterms:W3CDTF">2026-05-20T08:54:47.5770000Z</dcterms:modified>
</coreProperties>
</file>